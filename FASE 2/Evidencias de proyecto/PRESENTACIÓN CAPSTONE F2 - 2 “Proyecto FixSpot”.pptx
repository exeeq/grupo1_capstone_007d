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d33b40b4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d33b40b4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d33b40b4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d33b40b4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d33b40b4f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d33b40b4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d33b40b4f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d33b40b4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d33b40b4f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d33b40b4f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0150" y="302975"/>
            <a:ext cx="8183700" cy="18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CAPSTONE F2 Parte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“Proyecto FixSpot”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77775" y="2646650"/>
            <a:ext cx="2963700" cy="30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chemeClr val="lt1"/>
                </a:solidFill>
              </a:rPr>
              <a:t>Integrantes:</a:t>
            </a:r>
            <a:br>
              <a:rPr lang="es" sz="1200">
                <a:solidFill>
                  <a:schemeClr val="lt1"/>
                </a:solidFill>
              </a:rPr>
            </a:br>
            <a:r>
              <a:rPr lang="es" sz="1200">
                <a:solidFill>
                  <a:schemeClr val="lt1"/>
                </a:solidFill>
              </a:rPr>
              <a:t>-</a:t>
            </a:r>
            <a:r>
              <a:rPr lang="es" sz="1200">
                <a:solidFill>
                  <a:schemeClr val="lt1"/>
                </a:solidFill>
              </a:rPr>
              <a:t>Exequiel Albornoz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</a:t>
            </a:r>
            <a:r>
              <a:rPr lang="es" sz="1200">
                <a:solidFill>
                  <a:schemeClr val="lt1"/>
                </a:solidFill>
              </a:rPr>
              <a:t>Jairo Marín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</a:t>
            </a:r>
            <a:r>
              <a:rPr lang="es" sz="1200">
                <a:solidFill>
                  <a:schemeClr val="lt1"/>
                </a:solidFill>
              </a:rPr>
              <a:t>Jeffrey Ramírez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</a:t>
            </a:r>
            <a:r>
              <a:rPr lang="es" sz="1200">
                <a:solidFill>
                  <a:schemeClr val="lt1"/>
                </a:solidFill>
              </a:rPr>
              <a:t>Benjamín </a:t>
            </a:r>
            <a:r>
              <a:rPr lang="es" sz="1200">
                <a:solidFill>
                  <a:schemeClr val="lt1"/>
                </a:solidFill>
              </a:rPr>
              <a:t>Órdenes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-Carlos González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chemeClr val="lt1"/>
                </a:solidFill>
              </a:rPr>
              <a:t>Carrera:</a:t>
            </a:r>
            <a:endParaRPr b="1"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-Ingeniería en Informática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chemeClr val="lt1"/>
                </a:solidFill>
              </a:rPr>
              <a:t>Sede:</a:t>
            </a:r>
            <a:endParaRPr b="1"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-Puente Alto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chemeClr val="lt1"/>
                </a:solidFill>
              </a:rPr>
              <a:t>Año:</a:t>
            </a:r>
            <a:endParaRPr b="1"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lt1"/>
                </a:solidFill>
              </a:rPr>
              <a:t>-2025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836500" y="2917750"/>
            <a:ext cx="2586600" cy="1656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34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500" lIns="128500" spcFirstLastPara="1" rIns="128500" wrap="square" tIns="128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7">
              <a:highlight>
                <a:schemeClr val="dk2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976" y="3079769"/>
            <a:ext cx="2149735" cy="133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INTEGRANTES Y ROLES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2456651" y="1198149"/>
            <a:ext cx="4230698" cy="2863782"/>
            <a:chOff x="0" y="-1"/>
            <a:chExt cx="6781052" cy="4590131"/>
          </a:xfrm>
        </p:grpSpPr>
        <p:sp>
          <p:nvSpPr>
            <p:cNvPr id="68" name="Google Shape;68;p14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1462937" y="-1"/>
              <a:ext cx="5318100" cy="11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875" lIns="49875" spcFirstLastPara="1" rIns="49875" wrap="square" tIns="49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0"/>
                <a:buFont typeface="Calibri"/>
                <a:buNone/>
              </a:pP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Exequiel Albornoz Aránguiz</a:t>
              </a:r>
              <a:endParaRPr b="0" i="0" sz="130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6947" lvl="1" marL="106947" marR="0" rtl="0" algn="l">
                <a:lnSpc>
                  <a:spcPct val="50000"/>
                </a:lnSpc>
                <a:spcBef>
                  <a:spcPts val="459"/>
                </a:spcBef>
                <a:spcAft>
                  <a:spcPts val="0"/>
                </a:spcAft>
                <a:buClr>
                  <a:srgbClr val="FFFFFF"/>
                </a:buClr>
                <a:buSzPts val="998"/>
                <a:buFont typeface="Calibri"/>
                <a:buChar char="•"/>
              </a:pPr>
              <a:r>
                <a:rPr lang="es" sz="99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Owner Product</a:t>
              </a:r>
              <a:endParaRPr b="0" i="0" sz="99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6947" lvl="1" marL="106947" marR="0" rtl="0" algn="l">
                <a:lnSpc>
                  <a:spcPct val="70000"/>
                </a:lnSpc>
                <a:spcBef>
                  <a:spcPts val="459"/>
                </a:spcBef>
                <a:spcAft>
                  <a:spcPts val="0"/>
                </a:spcAft>
                <a:buClr>
                  <a:srgbClr val="FFFFFF"/>
                </a:buClr>
                <a:buSzPts val="998"/>
                <a:buFont typeface="Calibri"/>
                <a:buChar char="•"/>
              </a:pPr>
              <a:r>
                <a:rPr lang="es" sz="77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Definir los objetivos, priorizar y gestionar el backlog, asegurar la calidad, tomar decisiones estratégicas, validar entregables y aprobar avances.</a:t>
              </a:r>
              <a:endParaRPr b="0" i="0" sz="107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875" lIns="49875" spcFirstLastPara="1" rIns="49875" wrap="square" tIns="49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0"/>
                <a:buFont typeface="Calibri"/>
                <a:buNone/>
              </a:pP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Jairo Marín Veloso</a:t>
              </a:r>
              <a:endParaRPr b="0" i="0" sz="130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5955" lvl="1" marL="106947" marR="0" rtl="0" algn="l">
                <a:lnSpc>
                  <a:spcPct val="90000"/>
                </a:lnSpc>
                <a:spcBef>
                  <a:spcPts val="458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982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98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5955" lvl="1" marL="106947" marR="0" rtl="0" algn="l">
                <a:lnSpc>
                  <a:spcPct val="7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Facilitar la </a:t>
              </a: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metodología</a:t>
              </a: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scrum en el equipo, coordinar reuniones de seguimiento, asegurar el cumplimiento de los plazos.</a:t>
              </a:r>
              <a:endParaRPr b="0" i="0" sz="7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875" lIns="49875" spcFirstLastPara="1" rIns="49875" wrap="square" tIns="49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0"/>
                <a:buFont typeface="Calibri"/>
                <a:buNone/>
              </a:pP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Jeffrey Ramírez Zuñiga</a:t>
              </a:r>
              <a:endParaRPr sz="873"/>
            </a:p>
            <a:p>
              <a:pPr indent="-105955" lvl="1" marL="106947" marR="0" rtl="0" algn="l">
                <a:lnSpc>
                  <a:spcPct val="90000"/>
                </a:lnSpc>
                <a:spcBef>
                  <a:spcPts val="458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99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Líder de Desarrollo</a:t>
              </a:r>
              <a:endParaRPr sz="873"/>
            </a:p>
            <a:p>
              <a:pPr indent="-105955" lvl="1" marL="106947" marR="0" rtl="0" algn="l">
                <a:lnSpc>
                  <a:spcPct val="7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Diseñar y </a:t>
              </a: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desarrollar</a:t>
              </a: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la plataforma web y escritorio, implementar funcionalidades, garantizar compatibilidad, usabilidad y rendimiento.</a:t>
              </a:r>
              <a:endParaRPr sz="755"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875" lIns="49875" spcFirstLastPara="1" rIns="49875" wrap="square" tIns="49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0"/>
                <a:buFont typeface="Calibri"/>
                <a:buNone/>
              </a:pP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Benjamín </a:t>
              </a: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Órdenes</a:t>
              </a: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Troncoso</a:t>
              </a:r>
              <a:endParaRPr b="0" i="0" sz="130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5955" lvl="1" marL="106947" marR="0" rtl="0" algn="l">
                <a:lnSpc>
                  <a:spcPct val="90000"/>
                </a:lnSpc>
                <a:spcBef>
                  <a:spcPts val="458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99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Líder de QA</a:t>
              </a:r>
              <a:endParaRPr b="0" i="0" sz="99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5955" lvl="1" marL="106947" marR="0" rtl="0" algn="l">
                <a:lnSpc>
                  <a:spcPct val="7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Definir y ejecutar planes de pruebas de calidad, detectar y documentar errores o incidencias, verificar el cumplimiento de los requerimientos (func y no func).</a:t>
              </a:r>
              <a:endParaRPr b="0" i="0" sz="7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180" y="1321502"/>
            <a:ext cx="420498" cy="42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180" y="2053474"/>
            <a:ext cx="420498" cy="42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180" y="2785446"/>
            <a:ext cx="420498" cy="42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180" y="3517418"/>
            <a:ext cx="420498" cy="42049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2456700" y="4129275"/>
            <a:ext cx="4230600" cy="714300"/>
          </a:xfrm>
          <a:prstGeom prst="roundRect">
            <a:avLst>
              <a:gd fmla="val 16667" name="adj"/>
            </a:avLst>
          </a:prstGeom>
          <a:solidFill>
            <a:srgbClr val="4173C9"/>
          </a:solidFill>
          <a:ln cap="flat" cmpd="sng" w="9525">
            <a:solidFill>
              <a:srgbClr val="4A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2523051" y="4191657"/>
            <a:ext cx="846300" cy="532800"/>
          </a:xfrm>
          <a:prstGeom prst="roundRect">
            <a:avLst>
              <a:gd fmla="val 10000" name="adj"/>
            </a:avLst>
          </a:prstGeom>
          <a:solidFill>
            <a:srgbClr val="BFC8E3"/>
          </a:solidFill>
          <a:ln>
            <a:noFill/>
          </a:ln>
          <a:effectLst>
            <a:outerShdw blurRad="35649" rotWithShape="0" algn="ctr" dir="5400000" dist="11883">
              <a:srgbClr val="000000">
                <a:alpha val="62750"/>
              </a:srgbClr>
            </a:outerShdw>
          </a:effectLst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5955" y="4247793"/>
            <a:ext cx="420498" cy="42049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3369361" y="4153431"/>
            <a:ext cx="3318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75" lIns="49875" spcFirstLastPara="1" rIns="49875" wrap="square" tIns="498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0"/>
              <a:buFont typeface="Calibri"/>
              <a:buNone/>
            </a:pPr>
            <a:r>
              <a:rPr lang="es" sz="130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 González</a:t>
            </a:r>
            <a:endParaRPr b="0" i="0" sz="130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5955" lvl="1" marL="106947" marR="0" rtl="0" algn="l">
              <a:lnSpc>
                <a:spcPct val="90000"/>
              </a:lnSpc>
              <a:spcBef>
                <a:spcPts val="458"/>
              </a:spcBef>
              <a:spcAft>
                <a:spcPts val="0"/>
              </a:spcAft>
              <a:buClr>
                <a:srgbClr val="FFFFFF"/>
              </a:buClr>
              <a:buSzPts val="982"/>
              <a:buFont typeface="Calibri"/>
              <a:buChar char="•"/>
            </a:pPr>
            <a:r>
              <a:rPr lang="es" sz="99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Desarrollador</a:t>
            </a:r>
            <a:endParaRPr b="0" i="0" sz="99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5955" lvl="1" marL="106947" marR="0" rtl="0" algn="l">
              <a:lnSpc>
                <a:spcPct val="70000"/>
              </a:lnSpc>
              <a:spcBef>
                <a:spcPts val="150"/>
              </a:spcBef>
              <a:spcAft>
                <a:spcPts val="0"/>
              </a:spcAft>
              <a:buClr>
                <a:srgbClr val="FFFFFF"/>
              </a:buClr>
              <a:buSzPts val="982"/>
              <a:buFont typeface="Calibri"/>
              <a:buChar char="•"/>
            </a:pPr>
            <a:r>
              <a:rPr lang="es" sz="75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Ejecutar y desarrollar el plan de proyecto, codificar las funcionalidades funcionales y no funcionales del sistema.</a:t>
            </a:r>
            <a:endParaRPr b="0" i="0" sz="75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DESCRIPCIÓN DEL PROYECTO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311700" y="1386150"/>
            <a:ext cx="3252300" cy="29427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PROBLEMÁTICA</a:t>
            </a:r>
            <a:endParaRPr b="1" sz="1700" u="sng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usuarios con vehículos particulares enfrentan dificultades para encontrar talleres mecánicos confiables, con precios claros y tiempos de espera razonables. Este proceso suele ser tardado y desgastante, lo que genera desconfianza y una mala experiencia al momento de realizar mantenciones o reparaciones.</a:t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5580000" y="1386150"/>
            <a:ext cx="3252300" cy="29427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PROPUESTA DE SOLUCIÓN</a:t>
            </a:r>
            <a:endParaRPr b="1" sz="1700" u="sng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Desarrollar una plataforma digital de agenda en línea que permita a los clientes localizar talleres mecánicos de forma rápida, comparar precios y reseñas, y reservar servicios en tiempo real. Esta herramienta mejorará la experiencia del usuario, reducirá los tiempos de espera y apoyará a los talleres en su expansión dentro de un mercado cada vez más competitivo y digitalizado.</a:t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006650" y="2594250"/>
            <a:ext cx="1130700" cy="52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81C9"/>
          </a:solidFill>
          <a:ln cap="flat" cmpd="sng" w="9525">
            <a:solidFill>
              <a:srgbClr val="5E8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PATRÓN ARQUITECTÓNICO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83200" y="1301450"/>
            <a:ext cx="4325100" cy="3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s" sz="1100" u="sng">
                <a:solidFill>
                  <a:schemeClr val="dk2"/>
                </a:solidFill>
              </a:rPr>
              <a:t>Patrón Arquitectónico MVC</a:t>
            </a:r>
            <a:br>
              <a:rPr b="1" lang="es" sz="1100">
                <a:solidFill>
                  <a:schemeClr val="dk2"/>
                </a:solidFill>
              </a:rPr>
            </a:br>
            <a:r>
              <a:rPr lang="es" sz="1000">
                <a:solidFill>
                  <a:schemeClr val="dk2"/>
                </a:solidFill>
              </a:rPr>
              <a:t> El proyecto FixSpot sigue el patrón arquitectónico Modelo-Vista-Controlador (MVC), lo que permite una clara separación de responsabilidades en el sistema.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" sz="1000">
                <a:solidFill>
                  <a:schemeClr val="dk2"/>
                </a:solidFill>
              </a:rPr>
              <a:t>Modelo: Gestiona los datos y la lógica de negocio, interactuando con la base de datos MySQL a través de Django ORM.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" sz="1000">
                <a:solidFill>
                  <a:schemeClr val="dk2"/>
                </a:solidFill>
              </a:rPr>
              <a:t>Vista: Se encarga de la presentación, generando las interfaces de usuario en el navegador mediante HTML y templates.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" sz="1000">
                <a:solidFill>
                  <a:schemeClr val="dk2"/>
                </a:solidFill>
              </a:rPr>
              <a:t>Controlador: Maneja las peticiones del usuario, procesa la lógica y selecciona la vista adecuada. En el caso de la API, los controladores son los endpoints REST que gestionan las solicitudes y respuestas entre la aplicación web, la app de escritorio y el backend.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</a:rPr>
              <a:t>Este patrón facilita el mantenimiento y escalabilidad del proyecto, permitiendo un desarrollo más modular y organizado.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650" y="1479688"/>
            <a:ext cx="3699350" cy="2184125"/>
          </a:xfrm>
          <a:prstGeom prst="rect">
            <a:avLst/>
          </a:prstGeom>
          <a:noFill/>
          <a:ln>
            <a:noFill/>
          </a:ln>
          <a:effectLst>
            <a:outerShdw blurRad="485775" rotWithShape="0" algn="bl" dir="5400000" dist="114300">
              <a:schemeClr val="dk1"/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TECNOLOGÍAS DEL DESARROLLO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483150" y="1577675"/>
            <a:ext cx="3235500" cy="292800"/>
          </a:xfrm>
          <a:prstGeom prst="rect">
            <a:avLst/>
          </a:prstGeom>
          <a:solidFill>
            <a:srgbClr val="5E81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25" lIns="104125" spcFirstLastPara="1" rIns="104125" wrap="square" tIns="10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27"/>
              <a:buNone/>
            </a:pPr>
            <a:r>
              <a:rPr lang="es" sz="1480">
                <a:solidFill>
                  <a:schemeClr val="lt1"/>
                </a:solidFill>
              </a:rPr>
              <a:t>Front-end</a:t>
            </a:r>
            <a:endParaRPr sz="1138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483150" y="2553872"/>
            <a:ext cx="3235500" cy="292800"/>
          </a:xfrm>
          <a:prstGeom prst="rect">
            <a:avLst/>
          </a:prstGeom>
          <a:solidFill>
            <a:srgbClr val="5E81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25" lIns="104125" spcFirstLastPara="1" rIns="104125" wrap="square" tIns="10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27"/>
              <a:buNone/>
            </a:pPr>
            <a:r>
              <a:rPr lang="es" sz="1480">
                <a:solidFill>
                  <a:schemeClr val="lt1"/>
                </a:solidFill>
              </a:rPr>
              <a:t>Back-end</a:t>
            </a:r>
            <a:endParaRPr sz="1138">
              <a:solidFill>
                <a:schemeClr val="lt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83150" y="1870474"/>
            <a:ext cx="3235500" cy="5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4125" lIns="104125" spcFirstLastPara="1" rIns="104125" wrap="square" tIns="104125">
            <a:noAutofit/>
          </a:bodyPr>
          <a:lstStyle/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HTML5, CSS, JavaScript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Boostrap 5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83150" y="2846675"/>
            <a:ext cx="3235500" cy="1353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4125" lIns="104125" spcFirstLastPara="1" rIns="104125" wrap="square" tIns="104125">
            <a:noAutofit/>
          </a:bodyPr>
          <a:lstStyle/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Django 4.1 (Para la app web), JavaFX (Para la app escritorio)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MySQL (MariaDB 10.4.31)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API RESTful (Leaflet, Hunter.io, Paypal, Miindicador) 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 API propia usamos Django Rest Framework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" name="Google Shape;112;p17"/>
          <p:cNvSpPr txBox="1"/>
          <p:nvPr>
            <p:ph type="title"/>
          </p:nvPr>
        </p:nvSpPr>
        <p:spPr>
          <a:xfrm>
            <a:off x="5283775" y="1599275"/>
            <a:ext cx="3384900" cy="542400"/>
          </a:xfrm>
          <a:prstGeom prst="rect">
            <a:avLst/>
          </a:prstGeom>
          <a:solidFill>
            <a:srgbClr val="5E81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25" lIns="104125" spcFirstLastPara="1" rIns="104125" wrap="square" tIns="10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27"/>
              <a:buNone/>
            </a:pPr>
            <a:r>
              <a:rPr lang="es" sz="1480">
                <a:solidFill>
                  <a:schemeClr val="lt1"/>
                </a:solidFill>
              </a:rPr>
              <a:t>Algunas librerías utilizadas (python)</a:t>
            </a:r>
            <a:endParaRPr sz="1138">
              <a:solidFill>
                <a:schemeClr val="lt1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283775" y="2141675"/>
            <a:ext cx="3384900" cy="96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4125" lIns="104125" spcFirstLastPara="1" rIns="104125" wrap="square" tIns="104125">
            <a:noAutofit/>
          </a:bodyPr>
          <a:lstStyle/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Django Crispy Forms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Python Docx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Reportlab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2658" lvl="0" marL="52068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9"/>
              <a:buFont typeface="Source Sans Pro"/>
              <a:buChar char="●"/>
            </a:pPr>
            <a:r>
              <a:rPr lang="es" sz="1138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Openpyxl</a:t>
            </a:r>
            <a:endParaRPr sz="1138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233775" y="2260050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MUESTRA DEL SISTEMA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