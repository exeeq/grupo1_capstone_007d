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embeddedFontLst>
    <p:embeddedFont>
      <p:font typeface="Raleway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aleway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Raleway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Raleway-bold.fntdata"/><Relationship Id="rId6" Type="http://schemas.openxmlformats.org/officeDocument/2006/relationships/slide" Target="slides/slide1.xml"/><Relationship Id="rId18" Type="http://schemas.openxmlformats.org/officeDocument/2006/relationships/font" Target="fonts/Raleway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7d33b40b4f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7d33b40b4f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7d33b40b4f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7d33b40b4f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7d33b40b4f_0_1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7d33b40b4f_0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7d33b40b4f_0_1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7d33b40b4f_0_1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7d33b40b4f_0_2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7d33b40b4f_0_2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7d33b40b4f_0_1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7d33b40b4f_0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7d33b40b4f_0_1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7d33b40b4f_0_1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89af47e14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89af47e14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7d33b40b4f_0_2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7d33b40b4f_0_2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89af47e149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89af47e149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7d33b40b4f_0_2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7d33b40b4f_0_2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80700" y="2651100"/>
            <a:ext cx="8982600" cy="2411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485875" y="264475"/>
            <a:ext cx="8183700" cy="147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485875" y="1738075"/>
            <a:ext cx="8183700" cy="86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80700" y="2651100"/>
            <a:ext cx="8982600" cy="2411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3"/>
          <p:cNvSpPr txBox="1"/>
          <p:nvPr>
            <p:ph type="title"/>
          </p:nvPr>
        </p:nvSpPr>
        <p:spPr>
          <a:xfrm>
            <a:off x="485875" y="1714500"/>
            <a:ext cx="8183700" cy="78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" name="Google Shape;32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7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2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/>
          <p:nvPr>
            <p:ph type="title"/>
          </p:nvPr>
        </p:nvSpPr>
        <p:spPr>
          <a:xfrm>
            <a:off x="490250" y="526350"/>
            <a:ext cx="56040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8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4636800" y="80700"/>
            <a:ext cx="4426500" cy="4982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9" name="Google Shape;39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" name="Google Shape;40;p9"/>
          <p:cNvSpPr txBox="1"/>
          <p:nvPr>
            <p:ph type="title"/>
          </p:nvPr>
        </p:nvSpPr>
        <p:spPr>
          <a:xfrm>
            <a:off x="265500" y="1181700"/>
            <a:ext cx="4045200" cy="15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1" name="Google Shape;41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2" name="Google Shape;42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3" name="Google Shape;43;p9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/>
        </p:txBody>
      </p:sp>
      <p:sp>
        <p:nvSpPr>
          <p:cNvPr id="46" name="Google Shape;46;p10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1"/>
          <p:cNvSpPr/>
          <p:nvPr/>
        </p:nvSpPr>
        <p:spPr>
          <a:xfrm>
            <a:off x="80700" y="2651100"/>
            <a:ext cx="8982600" cy="2411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11"/>
          <p:cNvSpPr txBox="1"/>
          <p:nvPr>
            <p:ph hasCustomPrompt="1" type="title"/>
          </p:nvPr>
        </p:nvSpPr>
        <p:spPr>
          <a:xfrm>
            <a:off x="311700" y="743001"/>
            <a:ext cx="8520600" cy="200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r>
              <a:t>xx%</a:t>
            </a:r>
          </a:p>
        </p:txBody>
      </p:sp>
      <p:sp>
        <p:nvSpPr>
          <p:cNvPr id="50" name="Google Shape;50;p11"/>
          <p:cNvSpPr txBox="1"/>
          <p:nvPr>
            <p:ph idx="1" type="body"/>
          </p:nvPr>
        </p:nvSpPr>
        <p:spPr>
          <a:xfrm>
            <a:off x="311700" y="2845182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1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l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ource Sans Pro"/>
              <a:buChar char="●"/>
              <a:defRPr sz="18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○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■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●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○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■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●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○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■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5" Type="http://schemas.openxmlformats.org/officeDocument/2006/relationships/hyperlink" Target="https://docs.google.com/spreadsheets/d/1mznUKv8FdT7y8g8xJ-YOjvLr2Ra7fUXO/edit?gid=1989456219#gid=1989456219" TargetMode="External"/><Relationship Id="rId6" Type="http://schemas.openxmlformats.org/officeDocument/2006/relationships/hyperlink" Target="https://docs.google.com/spreadsheets/d/1mznUKv8FdT7y8g8xJ-YOjvLr2Ra7fUXO/edit?gid=1989456219#gid=1989456219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hyperlink" Target="https://drive.google.com/file/d/1RjcMfimoqHqWePDsrpgtHUnJdXeyjGI6/view?usp=drive_link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Relationship Id="rId4" Type="http://schemas.openxmlformats.org/officeDocument/2006/relationships/hyperlink" Target="https://docs.google.com/spreadsheets/d/1JCAWlXMxO8eS7di-FzU8s5Ll85rXtxz5/edit?usp=drive_link&amp;ouid=102598620166684933600&amp;rtpof=true&amp;sd=true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3"/>
          <p:cNvSpPr txBox="1"/>
          <p:nvPr>
            <p:ph type="ctrTitle"/>
          </p:nvPr>
        </p:nvSpPr>
        <p:spPr>
          <a:xfrm>
            <a:off x="480150" y="302975"/>
            <a:ext cx="8183700" cy="147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PRESENTACIÓN CAPSTONE F2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“Proyecto FixSpot”</a:t>
            </a:r>
            <a:endParaRPr/>
          </a:p>
        </p:txBody>
      </p:sp>
      <p:sp>
        <p:nvSpPr>
          <p:cNvPr id="59" name="Google Shape;59;p13"/>
          <p:cNvSpPr txBox="1"/>
          <p:nvPr>
            <p:ph idx="1" type="subTitle"/>
          </p:nvPr>
        </p:nvSpPr>
        <p:spPr>
          <a:xfrm>
            <a:off x="77775" y="2646650"/>
            <a:ext cx="2963700" cy="301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 u="sng">
                <a:solidFill>
                  <a:schemeClr val="lt1"/>
                </a:solidFill>
              </a:rPr>
              <a:t>Integrantes:</a:t>
            </a:r>
            <a:br>
              <a:rPr lang="es" sz="1200">
                <a:solidFill>
                  <a:schemeClr val="lt1"/>
                </a:solidFill>
              </a:rPr>
            </a:br>
            <a:r>
              <a:rPr lang="es" sz="1200">
                <a:solidFill>
                  <a:schemeClr val="lt1"/>
                </a:solidFill>
              </a:rPr>
              <a:t>-</a:t>
            </a:r>
            <a:r>
              <a:rPr lang="es" sz="1200">
                <a:solidFill>
                  <a:schemeClr val="lt1"/>
                </a:solidFill>
              </a:rPr>
              <a:t>Exequiel Albornoz</a:t>
            </a:r>
            <a:endParaRPr sz="12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lt1"/>
                </a:solidFill>
              </a:rPr>
              <a:t>-</a:t>
            </a:r>
            <a:r>
              <a:rPr lang="es" sz="1200">
                <a:solidFill>
                  <a:schemeClr val="lt1"/>
                </a:solidFill>
              </a:rPr>
              <a:t>Jairo Marín</a:t>
            </a:r>
            <a:endParaRPr sz="12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lt1"/>
                </a:solidFill>
              </a:rPr>
              <a:t>-</a:t>
            </a:r>
            <a:r>
              <a:rPr lang="es" sz="1200">
                <a:solidFill>
                  <a:schemeClr val="lt1"/>
                </a:solidFill>
              </a:rPr>
              <a:t>Jeffrey Ramírez</a:t>
            </a:r>
            <a:endParaRPr sz="12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lt1"/>
                </a:solidFill>
              </a:rPr>
              <a:t>-</a:t>
            </a:r>
            <a:r>
              <a:rPr lang="es" sz="1200">
                <a:solidFill>
                  <a:schemeClr val="lt1"/>
                </a:solidFill>
              </a:rPr>
              <a:t>Benjamín </a:t>
            </a:r>
            <a:r>
              <a:rPr lang="es" sz="1200">
                <a:solidFill>
                  <a:schemeClr val="lt1"/>
                </a:solidFill>
              </a:rPr>
              <a:t>Órdenes</a:t>
            </a:r>
            <a:endParaRPr sz="12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lt1"/>
                </a:solidFill>
              </a:rPr>
              <a:t>-Carlos González</a:t>
            </a:r>
            <a:endParaRPr sz="12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 u="sng">
                <a:solidFill>
                  <a:schemeClr val="lt1"/>
                </a:solidFill>
              </a:rPr>
              <a:t>Carrera:</a:t>
            </a:r>
            <a:endParaRPr b="1" sz="1200" u="sng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lt1"/>
                </a:solidFill>
              </a:rPr>
              <a:t>-Ingeniería en Informática</a:t>
            </a:r>
            <a:endParaRPr sz="12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 u="sng">
                <a:solidFill>
                  <a:schemeClr val="lt1"/>
                </a:solidFill>
              </a:rPr>
              <a:t>Sede:</a:t>
            </a:r>
            <a:endParaRPr b="1" sz="1200" u="sng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lt1"/>
                </a:solidFill>
              </a:rPr>
              <a:t>-Puente Alto</a:t>
            </a:r>
            <a:endParaRPr sz="12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 u="sng">
                <a:solidFill>
                  <a:schemeClr val="lt1"/>
                </a:solidFill>
              </a:rPr>
              <a:t>Año:</a:t>
            </a:r>
            <a:endParaRPr b="1" sz="1200" u="sng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s" sz="1200">
                <a:solidFill>
                  <a:schemeClr val="lt1"/>
                </a:solidFill>
              </a:rPr>
              <a:t>-2025</a:t>
            </a:r>
            <a:endParaRPr sz="12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</a:endParaRPr>
          </a:p>
        </p:txBody>
      </p:sp>
      <p:sp>
        <p:nvSpPr>
          <p:cNvPr id="60" name="Google Shape;60;p13"/>
          <p:cNvSpPr/>
          <p:nvPr/>
        </p:nvSpPr>
        <p:spPr>
          <a:xfrm>
            <a:off x="5836500" y="2917750"/>
            <a:ext cx="2586600" cy="16560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 cap="flat" cmpd="sng" w="13400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8500" lIns="128500" spcFirstLastPara="1" rIns="128500" wrap="square" tIns="1285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67">
              <a:highlight>
                <a:schemeClr val="dk2"/>
              </a:highlight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pic>
        <p:nvPicPr>
          <p:cNvPr id="61" name="Google Shape;61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54976" y="3079769"/>
            <a:ext cx="2149735" cy="13319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</a:rPr>
              <a:t>INTEGRANTES Y ROLES</a:t>
            </a:r>
            <a:endParaRPr>
              <a:solidFill>
                <a:schemeClr val="lt1"/>
              </a:solidFill>
            </a:endParaRPr>
          </a:p>
        </p:txBody>
      </p:sp>
      <p:grpSp>
        <p:nvGrpSpPr>
          <p:cNvPr id="67" name="Google Shape;67;p14"/>
          <p:cNvGrpSpPr/>
          <p:nvPr/>
        </p:nvGrpSpPr>
        <p:grpSpPr>
          <a:xfrm>
            <a:off x="2456651" y="1198149"/>
            <a:ext cx="4230698" cy="2863782"/>
            <a:chOff x="0" y="-1"/>
            <a:chExt cx="6781052" cy="4590131"/>
          </a:xfrm>
        </p:grpSpPr>
        <p:sp>
          <p:nvSpPr>
            <p:cNvPr id="68" name="Google Shape;68;p14"/>
            <p:cNvSpPr/>
            <p:nvPr/>
          </p:nvSpPr>
          <p:spPr>
            <a:xfrm>
              <a:off x="0" y="0"/>
              <a:ext cx="6780900" cy="1067400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5E81C9"/>
                </a:gs>
                <a:gs pos="50000">
                  <a:srgbClr val="3B70C9"/>
                </a:gs>
                <a:gs pos="100000">
                  <a:srgbClr val="2E60B8"/>
                </a:gs>
              </a:gsLst>
              <a:lin ang="5400012" scaled="0"/>
            </a:gradFill>
            <a:ln>
              <a:noFill/>
            </a:ln>
            <a:effectLst>
              <a:outerShdw blurRad="35649" rotWithShape="0" algn="ctr" dir="5400000" dist="11883">
                <a:srgbClr val="000000">
                  <a:alpha val="62750"/>
                </a:srgbClr>
              </a:outerShdw>
            </a:effectLst>
          </p:spPr>
          <p:txBody>
            <a:bodyPr anchorCtr="0" anchor="ctr" bIns="57025" lIns="57025" spcFirstLastPara="1" rIns="57025" wrap="square" tIns="57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" name="Google Shape;69;p14"/>
            <p:cNvSpPr txBox="1"/>
            <p:nvPr/>
          </p:nvSpPr>
          <p:spPr>
            <a:xfrm>
              <a:off x="1462937" y="-1"/>
              <a:ext cx="5318100" cy="111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9875" lIns="49875" spcFirstLastPara="1" rIns="49875" wrap="square" tIns="498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310"/>
                <a:buFont typeface="Calibri"/>
                <a:buNone/>
              </a:pPr>
              <a:r>
                <a:rPr lang="es" sz="1309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Exequiel Albornoz Aránguiz</a:t>
              </a:r>
              <a:endParaRPr b="0" i="0" sz="1309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106947" lvl="1" marL="106947" marR="0" rtl="0" algn="l">
                <a:lnSpc>
                  <a:spcPct val="50000"/>
                </a:lnSpc>
                <a:spcBef>
                  <a:spcPts val="459"/>
                </a:spcBef>
                <a:spcAft>
                  <a:spcPts val="0"/>
                </a:spcAft>
                <a:buClr>
                  <a:srgbClr val="FFFFFF"/>
                </a:buClr>
                <a:buSzPts val="998"/>
                <a:buFont typeface="Calibri"/>
                <a:buChar char="•"/>
              </a:pPr>
              <a:r>
                <a:rPr lang="es" sz="998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Owner Product</a:t>
              </a:r>
              <a:endParaRPr b="0" i="0" sz="998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106947" lvl="1" marL="106947" marR="0" rtl="0" algn="l">
                <a:lnSpc>
                  <a:spcPct val="70000"/>
                </a:lnSpc>
                <a:spcBef>
                  <a:spcPts val="459"/>
                </a:spcBef>
                <a:spcAft>
                  <a:spcPts val="0"/>
                </a:spcAft>
                <a:buClr>
                  <a:srgbClr val="FFFFFF"/>
                </a:buClr>
                <a:buSzPts val="998"/>
                <a:buFont typeface="Calibri"/>
                <a:buChar char="•"/>
              </a:pPr>
              <a:r>
                <a:rPr lang="es" sz="771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Definir los objetivos, priorizar y gestionar el backlog, asegurar la calidad, tomar decisiones estratégicas, validar entregables y aprobar avances.</a:t>
              </a:r>
              <a:endParaRPr b="0" i="0" sz="107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" name="Google Shape;70;p14"/>
            <p:cNvSpPr/>
            <p:nvPr/>
          </p:nvSpPr>
          <p:spPr>
            <a:xfrm>
              <a:off x="106749" y="106749"/>
              <a:ext cx="1356300" cy="854100"/>
            </a:xfrm>
            <a:prstGeom prst="roundRect">
              <a:avLst>
                <a:gd fmla="val 10000" name="adj"/>
              </a:avLst>
            </a:prstGeom>
            <a:solidFill>
              <a:srgbClr val="BFC8E3"/>
            </a:solidFill>
            <a:ln>
              <a:noFill/>
            </a:ln>
            <a:effectLst>
              <a:outerShdw blurRad="35649" rotWithShape="0" algn="ctr" dir="5400000" dist="11883">
                <a:srgbClr val="000000">
                  <a:alpha val="62750"/>
                </a:srgbClr>
              </a:outerShdw>
            </a:effectLst>
          </p:spPr>
          <p:txBody>
            <a:bodyPr anchorCtr="0" anchor="ctr" bIns="57025" lIns="57025" spcFirstLastPara="1" rIns="57025" wrap="square" tIns="57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" name="Google Shape;71;p14"/>
            <p:cNvSpPr/>
            <p:nvPr/>
          </p:nvSpPr>
          <p:spPr>
            <a:xfrm>
              <a:off x="0" y="1174243"/>
              <a:ext cx="6780900" cy="1067400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5E81C9"/>
                </a:gs>
                <a:gs pos="50000">
                  <a:srgbClr val="3B70C9"/>
                </a:gs>
                <a:gs pos="100000">
                  <a:srgbClr val="2E60B8"/>
                </a:gs>
              </a:gsLst>
              <a:lin ang="5400012" scaled="0"/>
            </a:gradFill>
            <a:ln>
              <a:noFill/>
            </a:ln>
            <a:effectLst>
              <a:outerShdw blurRad="35649" rotWithShape="0" algn="ctr" dir="5400000" dist="11883">
                <a:srgbClr val="000000">
                  <a:alpha val="62750"/>
                </a:srgbClr>
              </a:outerShdw>
            </a:effectLst>
          </p:spPr>
          <p:txBody>
            <a:bodyPr anchorCtr="0" anchor="ctr" bIns="57025" lIns="57025" spcFirstLastPara="1" rIns="57025" wrap="square" tIns="57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4"/>
            <p:cNvSpPr txBox="1"/>
            <p:nvPr/>
          </p:nvSpPr>
          <p:spPr>
            <a:xfrm>
              <a:off x="1462952" y="1174243"/>
              <a:ext cx="5318100" cy="106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9875" lIns="49875" spcFirstLastPara="1" rIns="49875" wrap="square" tIns="498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310"/>
                <a:buFont typeface="Calibri"/>
                <a:buNone/>
              </a:pPr>
              <a:r>
                <a:rPr lang="es" sz="1309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Jairo Marín Veloso</a:t>
              </a:r>
              <a:endParaRPr b="0" i="0" sz="1309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105955" lvl="1" marL="106947" marR="0" rtl="0" algn="l">
                <a:lnSpc>
                  <a:spcPct val="90000"/>
                </a:lnSpc>
                <a:spcBef>
                  <a:spcPts val="458"/>
                </a:spcBef>
                <a:spcAft>
                  <a:spcPts val="0"/>
                </a:spcAft>
                <a:buClr>
                  <a:srgbClr val="FFFFFF"/>
                </a:buClr>
                <a:buSzPts val="982"/>
                <a:buFont typeface="Calibri"/>
                <a:buChar char="•"/>
              </a:pPr>
              <a:r>
                <a:rPr lang="es" sz="982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Scrum Master</a:t>
              </a:r>
              <a:endParaRPr b="0" i="0" sz="982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105955" lvl="1" marL="106947" marR="0" rtl="0" algn="l">
                <a:lnSpc>
                  <a:spcPct val="70000"/>
                </a:lnSpc>
                <a:spcBef>
                  <a:spcPts val="150"/>
                </a:spcBef>
                <a:spcAft>
                  <a:spcPts val="0"/>
                </a:spcAft>
                <a:buClr>
                  <a:srgbClr val="FFFFFF"/>
                </a:buClr>
                <a:buSzPts val="982"/>
                <a:buFont typeface="Calibri"/>
                <a:buChar char="•"/>
              </a:pPr>
              <a:r>
                <a:rPr lang="es" sz="755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Facilitar la </a:t>
              </a:r>
              <a:r>
                <a:rPr lang="es" sz="755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metodología</a:t>
              </a:r>
              <a:r>
                <a:rPr lang="es" sz="755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scrum en el equipo, coordinar reuniones de seguimiento, asegurar el cumplimiento de los plazos.</a:t>
              </a:r>
              <a:endParaRPr b="0" i="0" sz="75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" name="Google Shape;73;p14"/>
            <p:cNvSpPr/>
            <p:nvPr/>
          </p:nvSpPr>
          <p:spPr>
            <a:xfrm>
              <a:off x="106749" y="1280992"/>
              <a:ext cx="1356300" cy="854100"/>
            </a:xfrm>
            <a:prstGeom prst="roundRect">
              <a:avLst>
                <a:gd fmla="val 10000" name="adj"/>
              </a:avLst>
            </a:prstGeom>
            <a:solidFill>
              <a:srgbClr val="BFC8E3"/>
            </a:solidFill>
            <a:ln>
              <a:noFill/>
            </a:ln>
            <a:effectLst>
              <a:outerShdw blurRad="35649" rotWithShape="0" algn="ctr" dir="5400000" dist="11883">
                <a:srgbClr val="000000">
                  <a:alpha val="62750"/>
                </a:srgbClr>
              </a:outerShdw>
            </a:effectLst>
          </p:spPr>
          <p:txBody>
            <a:bodyPr anchorCtr="0" anchor="ctr" bIns="57025" lIns="57025" spcFirstLastPara="1" rIns="57025" wrap="square" tIns="57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4"/>
            <p:cNvSpPr/>
            <p:nvPr/>
          </p:nvSpPr>
          <p:spPr>
            <a:xfrm>
              <a:off x="0" y="2348487"/>
              <a:ext cx="6780900" cy="1067400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5E81C9"/>
                </a:gs>
                <a:gs pos="50000">
                  <a:srgbClr val="3B70C9"/>
                </a:gs>
                <a:gs pos="100000">
                  <a:srgbClr val="2E60B8"/>
                </a:gs>
              </a:gsLst>
              <a:lin ang="5400012" scaled="0"/>
            </a:gradFill>
            <a:ln>
              <a:noFill/>
            </a:ln>
            <a:effectLst>
              <a:outerShdw blurRad="35649" rotWithShape="0" algn="ctr" dir="5400000" dist="11883">
                <a:srgbClr val="000000">
                  <a:alpha val="62750"/>
                </a:srgbClr>
              </a:outerShdw>
            </a:effectLst>
          </p:spPr>
          <p:txBody>
            <a:bodyPr anchorCtr="0" anchor="ctr" bIns="57025" lIns="57025" spcFirstLastPara="1" rIns="57025" wrap="square" tIns="57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4"/>
            <p:cNvSpPr txBox="1"/>
            <p:nvPr/>
          </p:nvSpPr>
          <p:spPr>
            <a:xfrm>
              <a:off x="1462952" y="2348487"/>
              <a:ext cx="5318100" cy="106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9875" lIns="49875" spcFirstLastPara="1" rIns="49875" wrap="square" tIns="498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310"/>
                <a:buFont typeface="Calibri"/>
                <a:buNone/>
              </a:pPr>
              <a:r>
                <a:rPr lang="es" sz="1309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Jeffrey Ramírez Zuñiga</a:t>
              </a:r>
              <a:endParaRPr sz="873"/>
            </a:p>
            <a:p>
              <a:pPr indent="-105955" lvl="1" marL="106947" marR="0" rtl="0" algn="l">
                <a:lnSpc>
                  <a:spcPct val="90000"/>
                </a:lnSpc>
                <a:spcBef>
                  <a:spcPts val="458"/>
                </a:spcBef>
                <a:spcAft>
                  <a:spcPts val="0"/>
                </a:spcAft>
                <a:buClr>
                  <a:srgbClr val="FFFFFF"/>
                </a:buClr>
                <a:buSzPts val="982"/>
                <a:buFont typeface="Calibri"/>
                <a:buChar char="•"/>
              </a:pPr>
              <a:r>
                <a:rPr lang="es" sz="998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Líder de Desarrollo</a:t>
              </a:r>
              <a:endParaRPr sz="873"/>
            </a:p>
            <a:p>
              <a:pPr indent="-105955" lvl="1" marL="106947" marR="0" rtl="0" algn="l">
                <a:lnSpc>
                  <a:spcPct val="70000"/>
                </a:lnSpc>
                <a:spcBef>
                  <a:spcPts val="150"/>
                </a:spcBef>
                <a:spcAft>
                  <a:spcPts val="0"/>
                </a:spcAft>
                <a:buClr>
                  <a:srgbClr val="FFFFFF"/>
                </a:buClr>
                <a:buSzPts val="982"/>
                <a:buFont typeface="Calibri"/>
                <a:buChar char="•"/>
              </a:pPr>
              <a:r>
                <a:rPr lang="es" sz="755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Diseñar y </a:t>
              </a:r>
              <a:r>
                <a:rPr lang="es" sz="755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desarrollar</a:t>
              </a:r>
              <a:r>
                <a:rPr lang="es" sz="755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la plataforma web y escritorio, implementar funcionalidades, garantizar compatibilidad, usabilidad y rendimiento.</a:t>
              </a:r>
              <a:endParaRPr sz="755"/>
            </a:p>
          </p:txBody>
        </p:sp>
        <p:sp>
          <p:nvSpPr>
            <p:cNvPr id="76" name="Google Shape;76;p14"/>
            <p:cNvSpPr/>
            <p:nvPr/>
          </p:nvSpPr>
          <p:spPr>
            <a:xfrm>
              <a:off x="106749" y="2455236"/>
              <a:ext cx="1356300" cy="854100"/>
            </a:xfrm>
            <a:prstGeom prst="roundRect">
              <a:avLst>
                <a:gd fmla="val 10000" name="adj"/>
              </a:avLst>
            </a:prstGeom>
            <a:solidFill>
              <a:srgbClr val="BFC8E3"/>
            </a:solidFill>
            <a:ln>
              <a:noFill/>
            </a:ln>
            <a:effectLst>
              <a:outerShdw blurRad="35649" rotWithShape="0" algn="ctr" dir="5400000" dist="11883">
                <a:srgbClr val="000000">
                  <a:alpha val="62750"/>
                </a:srgbClr>
              </a:outerShdw>
            </a:effectLst>
          </p:spPr>
          <p:txBody>
            <a:bodyPr anchorCtr="0" anchor="ctr" bIns="57025" lIns="57025" spcFirstLastPara="1" rIns="57025" wrap="square" tIns="57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14"/>
            <p:cNvSpPr/>
            <p:nvPr/>
          </p:nvSpPr>
          <p:spPr>
            <a:xfrm>
              <a:off x="0" y="3522730"/>
              <a:ext cx="6780900" cy="1067400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5E81C9"/>
                </a:gs>
                <a:gs pos="50000">
                  <a:srgbClr val="3B70C9"/>
                </a:gs>
                <a:gs pos="100000">
                  <a:srgbClr val="2E60B8"/>
                </a:gs>
              </a:gsLst>
              <a:lin ang="5400012" scaled="0"/>
            </a:gradFill>
            <a:ln>
              <a:noFill/>
            </a:ln>
            <a:effectLst>
              <a:outerShdw blurRad="35649" rotWithShape="0" algn="ctr" dir="5400000" dist="11883">
                <a:srgbClr val="000000">
                  <a:alpha val="62750"/>
                </a:srgbClr>
              </a:outerShdw>
            </a:effectLst>
          </p:spPr>
          <p:txBody>
            <a:bodyPr anchorCtr="0" anchor="ctr" bIns="57025" lIns="57025" spcFirstLastPara="1" rIns="57025" wrap="square" tIns="57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14"/>
            <p:cNvSpPr txBox="1"/>
            <p:nvPr/>
          </p:nvSpPr>
          <p:spPr>
            <a:xfrm>
              <a:off x="1462952" y="3522730"/>
              <a:ext cx="5318100" cy="106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9875" lIns="49875" spcFirstLastPara="1" rIns="49875" wrap="square" tIns="498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310"/>
                <a:buFont typeface="Calibri"/>
                <a:buNone/>
              </a:pPr>
              <a:r>
                <a:rPr lang="es" sz="1309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Benjamín </a:t>
              </a:r>
              <a:r>
                <a:rPr lang="es" sz="1309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Órdenes</a:t>
              </a:r>
              <a:r>
                <a:rPr lang="es" sz="1309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Troncoso</a:t>
              </a:r>
              <a:endParaRPr b="0" i="0" sz="1309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105955" lvl="1" marL="106947" marR="0" rtl="0" algn="l">
                <a:lnSpc>
                  <a:spcPct val="90000"/>
                </a:lnSpc>
                <a:spcBef>
                  <a:spcPts val="458"/>
                </a:spcBef>
                <a:spcAft>
                  <a:spcPts val="0"/>
                </a:spcAft>
                <a:buClr>
                  <a:srgbClr val="FFFFFF"/>
                </a:buClr>
                <a:buSzPts val="982"/>
                <a:buFont typeface="Calibri"/>
                <a:buChar char="•"/>
              </a:pPr>
              <a:r>
                <a:rPr lang="es" sz="998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Líder de QA</a:t>
              </a:r>
              <a:endParaRPr b="0" i="0" sz="998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105955" lvl="1" marL="106947" marR="0" rtl="0" algn="l">
                <a:lnSpc>
                  <a:spcPct val="70000"/>
                </a:lnSpc>
                <a:spcBef>
                  <a:spcPts val="150"/>
                </a:spcBef>
                <a:spcAft>
                  <a:spcPts val="0"/>
                </a:spcAft>
                <a:buClr>
                  <a:srgbClr val="FFFFFF"/>
                </a:buClr>
                <a:buSzPts val="982"/>
                <a:buFont typeface="Calibri"/>
                <a:buChar char="•"/>
              </a:pPr>
              <a:r>
                <a:rPr lang="es" sz="755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Definir y ejecutar planes de pruebas de calidad, detectar y documentar errores o incidencias, verificar el cumplimiento de los requerimientos (func y no func).</a:t>
              </a:r>
              <a:endParaRPr b="0" i="0" sz="75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" name="Google Shape;79;p14"/>
            <p:cNvSpPr/>
            <p:nvPr/>
          </p:nvSpPr>
          <p:spPr>
            <a:xfrm>
              <a:off x="106749" y="3629480"/>
              <a:ext cx="1356300" cy="854100"/>
            </a:xfrm>
            <a:prstGeom prst="roundRect">
              <a:avLst>
                <a:gd fmla="val 10000" name="adj"/>
              </a:avLst>
            </a:prstGeom>
            <a:solidFill>
              <a:srgbClr val="BFC8E3"/>
            </a:solidFill>
            <a:ln>
              <a:noFill/>
            </a:ln>
            <a:effectLst>
              <a:outerShdw blurRad="35649" rotWithShape="0" algn="ctr" dir="5400000" dist="11883">
                <a:srgbClr val="000000">
                  <a:alpha val="62750"/>
                </a:srgbClr>
              </a:outerShdw>
            </a:effectLst>
          </p:spPr>
          <p:txBody>
            <a:bodyPr anchorCtr="0" anchor="ctr" bIns="57025" lIns="57025" spcFirstLastPara="1" rIns="57025" wrap="square" tIns="57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80" name="Google Shape;8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12180" y="1321502"/>
            <a:ext cx="420498" cy="420498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12180" y="2053474"/>
            <a:ext cx="420498" cy="420498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12180" y="2785446"/>
            <a:ext cx="420498" cy="420498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12180" y="3517418"/>
            <a:ext cx="420498" cy="420498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4"/>
          <p:cNvSpPr/>
          <p:nvPr/>
        </p:nvSpPr>
        <p:spPr>
          <a:xfrm>
            <a:off x="2456700" y="4129275"/>
            <a:ext cx="4230600" cy="714300"/>
          </a:xfrm>
          <a:prstGeom prst="roundRect">
            <a:avLst>
              <a:gd fmla="val 16667" name="adj"/>
            </a:avLst>
          </a:prstGeom>
          <a:solidFill>
            <a:srgbClr val="4173C9"/>
          </a:solidFill>
          <a:ln cap="flat" cmpd="sng" w="9525">
            <a:solidFill>
              <a:srgbClr val="4A77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85" name="Google Shape;85;p14"/>
          <p:cNvSpPr/>
          <p:nvPr/>
        </p:nvSpPr>
        <p:spPr>
          <a:xfrm>
            <a:off x="2523051" y="4191657"/>
            <a:ext cx="846300" cy="532800"/>
          </a:xfrm>
          <a:prstGeom prst="roundRect">
            <a:avLst>
              <a:gd fmla="val 10000" name="adj"/>
            </a:avLst>
          </a:prstGeom>
          <a:solidFill>
            <a:srgbClr val="BFC8E3"/>
          </a:solidFill>
          <a:ln>
            <a:noFill/>
          </a:ln>
          <a:effectLst>
            <a:outerShdw blurRad="35649" rotWithShape="0" algn="ctr" dir="5400000" dist="11883">
              <a:srgbClr val="000000">
                <a:alpha val="62750"/>
              </a:srgbClr>
            </a:outerShdw>
          </a:effectLst>
        </p:spPr>
        <p:txBody>
          <a:bodyPr anchorCtr="0" anchor="ctr" bIns="57025" lIns="57025" spcFirstLastPara="1" rIns="57025" wrap="square" tIns="57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6" name="Google Shape;8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35955" y="4247793"/>
            <a:ext cx="420498" cy="420498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4"/>
          <p:cNvSpPr txBox="1"/>
          <p:nvPr/>
        </p:nvSpPr>
        <p:spPr>
          <a:xfrm>
            <a:off x="3369361" y="4153431"/>
            <a:ext cx="3318000" cy="6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9875" lIns="49875" spcFirstLastPara="1" rIns="49875" wrap="square" tIns="498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10"/>
              <a:buFont typeface="Calibri"/>
              <a:buNone/>
            </a:pPr>
            <a:r>
              <a:rPr lang="es" sz="1309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Carlos González</a:t>
            </a:r>
            <a:endParaRPr b="0" i="0" sz="1309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05955" lvl="1" marL="106947" marR="0" rtl="0" algn="l">
              <a:lnSpc>
                <a:spcPct val="90000"/>
              </a:lnSpc>
              <a:spcBef>
                <a:spcPts val="458"/>
              </a:spcBef>
              <a:spcAft>
                <a:spcPts val="0"/>
              </a:spcAft>
              <a:buClr>
                <a:srgbClr val="FFFFFF"/>
              </a:buClr>
              <a:buSzPts val="982"/>
              <a:buFont typeface="Calibri"/>
              <a:buChar char="•"/>
            </a:pPr>
            <a:r>
              <a:rPr lang="es" sz="998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Desarrollador</a:t>
            </a:r>
            <a:endParaRPr b="0" i="0" sz="998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05955" lvl="1" marL="106947" marR="0" rtl="0" algn="l">
              <a:lnSpc>
                <a:spcPct val="70000"/>
              </a:lnSpc>
              <a:spcBef>
                <a:spcPts val="150"/>
              </a:spcBef>
              <a:spcAft>
                <a:spcPts val="0"/>
              </a:spcAft>
              <a:buClr>
                <a:srgbClr val="FFFFFF"/>
              </a:buClr>
              <a:buSzPts val="982"/>
              <a:buFont typeface="Calibri"/>
              <a:buChar char="•"/>
            </a:pPr>
            <a:r>
              <a:rPr lang="es" sz="755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Ejecutar y desarrollar el plan de proyecto, codificar las funcionalidades funcionales y no funcionales del sistema.</a:t>
            </a:r>
            <a:endParaRPr b="0" i="0" sz="755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5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</a:rPr>
              <a:t>DESCRIPCIÓN DEL PROYECTO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93" name="Google Shape;93;p15"/>
          <p:cNvSpPr/>
          <p:nvPr/>
        </p:nvSpPr>
        <p:spPr>
          <a:xfrm>
            <a:off x="311700" y="1386150"/>
            <a:ext cx="3252300" cy="2942700"/>
          </a:xfrm>
          <a:prstGeom prst="roundRect">
            <a:avLst>
              <a:gd fmla="val 16667" name="adj"/>
            </a:avLst>
          </a:prstGeom>
          <a:solidFill>
            <a:srgbClr val="5E81C9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00" u="sng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PROBLEMÁTICA</a:t>
            </a:r>
            <a:endParaRPr b="1" sz="1700" u="sng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Los usuarios con vehículos particulares enfrentan dificultades para encontrar talleres mecánicos confiables, con precios claros y tiempos de espera razonables. Este proceso suele ser tardado y desgastante, lo que genera desconfianza y una mala experiencia al momento de realizar mantenciones o reparaciones.</a:t>
            </a:r>
            <a:endParaRPr sz="1300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94" name="Google Shape;94;p15"/>
          <p:cNvSpPr/>
          <p:nvPr/>
        </p:nvSpPr>
        <p:spPr>
          <a:xfrm>
            <a:off x="5580000" y="1386150"/>
            <a:ext cx="3252300" cy="2942700"/>
          </a:xfrm>
          <a:prstGeom prst="roundRect">
            <a:avLst>
              <a:gd fmla="val 16667" name="adj"/>
            </a:avLst>
          </a:prstGeom>
          <a:solidFill>
            <a:srgbClr val="5E81C9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00" u="sng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PROPUESTA DE SOLUCIÓN</a:t>
            </a:r>
            <a:endParaRPr b="1" sz="1700" u="sng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Desarrollar una plataforma digital de agenda en línea que permita a los clientes localizar talleres mecánicos de forma rápida, comparar precios y reseñas, y reservar servicios en tiempo real. Esta herramienta mejorará la experiencia del usuario, reducirá los tiempos de espera y apoyará a los talleres en su expansión dentro de un mercado cada vez más competitivo y digitalizado.</a:t>
            </a:r>
            <a:endParaRPr sz="1300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95" name="Google Shape;95;p15"/>
          <p:cNvSpPr/>
          <p:nvPr/>
        </p:nvSpPr>
        <p:spPr>
          <a:xfrm>
            <a:off x="4006650" y="2594250"/>
            <a:ext cx="1130700" cy="5265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5E81C9"/>
          </a:solidFill>
          <a:ln cap="flat" cmpd="sng" w="9525">
            <a:solidFill>
              <a:srgbClr val="5E81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6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</a:rPr>
              <a:t>LISTADO DE REQUERIMIENTOS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101" name="Google Shape;10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45525" y="1112450"/>
            <a:ext cx="6652951" cy="1981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45525" y="3094400"/>
            <a:ext cx="6652949" cy="1526567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6"/>
          <p:cNvSpPr txBox="1"/>
          <p:nvPr/>
        </p:nvSpPr>
        <p:spPr>
          <a:xfrm>
            <a:off x="3781425" y="4676775"/>
            <a:ext cx="5305500" cy="5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u="sng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Planilla de </a:t>
            </a:r>
            <a:r>
              <a:rPr lang="es" sz="1900" u="sng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requerimientos</a:t>
            </a:r>
            <a:endParaRPr sz="190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7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</a:rPr>
              <a:t>MATRIZ RACI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09" name="Google Shape;109;p17"/>
          <p:cNvSpPr/>
          <p:nvPr/>
        </p:nvSpPr>
        <p:spPr>
          <a:xfrm>
            <a:off x="7509175" y="2671375"/>
            <a:ext cx="619200" cy="257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pic>
        <p:nvPicPr>
          <p:cNvPr id="110" name="Google Shape;11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4250" y="1616638"/>
            <a:ext cx="8175500" cy="19102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8"/>
          <p:cNvSpPr txBox="1"/>
          <p:nvPr>
            <p:ph type="title"/>
          </p:nvPr>
        </p:nvSpPr>
        <p:spPr>
          <a:xfrm>
            <a:off x="311713" y="204025"/>
            <a:ext cx="8520600" cy="6234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</a:rPr>
              <a:t>MODELO RELACIONAL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116" name="Google Shape;116;p18" title="imag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68175" y="874300"/>
            <a:ext cx="5407649" cy="4177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9"/>
          <p:cNvSpPr txBox="1"/>
          <p:nvPr>
            <p:ph type="title"/>
          </p:nvPr>
        </p:nvSpPr>
        <p:spPr>
          <a:xfrm>
            <a:off x="311700" y="268625"/>
            <a:ext cx="8520600" cy="6234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</a:rPr>
              <a:t>DIAGRAMA DE CASO DE USO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122" name="Google Shape;12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95413" y="1034350"/>
            <a:ext cx="6353175" cy="400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0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</a:rPr>
              <a:t>PATRÓN </a:t>
            </a:r>
            <a:r>
              <a:rPr lang="es">
                <a:solidFill>
                  <a:schemeClr val="lt1"/>
                </a:solidFill>
              </a:rPr>
              <a:t>ARQUITECTÓNICO</a:t>
            </a:r>
            <a:r>
              <a:rPr lang="es">
                <a:solidFill>
                  <a:schemeClr val="lt1"/>
                </a:solidFill>
              </a:rPr>
              <a:t> Y VISTA FÍSICA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28" name="Google Shape;128;p20"/>
          <p:cNvSpPr txBox="1"/>
          <p:nvPr/>
        </p:nvSpPr>
        <p:spPr>
          <a:xfrm>
            <a:off x="202625" y="1246900"/>
            <a:ext cx="4325100" cy="43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es" sz="1100" u="sng">
                <a:solidFill>
                  <a:schemeClr val="dk2"/>
                </a:solidFill>
              </a:rPr>
              <a:t>Patrón Arquitectónico MVC</a:t>
            </a:r>
            <a:br>
              <a:rPr b="1" lang="es" sz="1100">
                <a:solidFill>
                  <a:schemeClr val="dk2"/>
                </a:solidFill>
              </a:rPr>
            </a:br>
            <a:r>
              <a:rPr lang="es" sz="1000">
                <a:solidFill>
                  <a:schemeClr val="dk2"/>
                </a:solidFill>
              </a:rPr>
              <a:t> El proyecto FixSpot sigue el patrón arquitectónico Modelo-Vista-Controlador (MVC), lo que permite una clara separación de responsabilidades en el sistema.</a:t>
            </a:r>
            <a:endParaRPr sz="1000">
              <a:solidFill>
                <a:schemeClr val="dk2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000"/>
              <a:buChar char="●"/>
            </a:pPr>
            <a:r>
              <a:rPr lang="es" sz="1000">
                <a:solidFill>
                  <a:schemeClr val="dk2"/>
                </a:solidFill>
              </a:rPr>
              <a:t>Modelo: Gestiona los datos y la lógica de negocio, interactuando con la base de datos MySQL a través de Django ORM.</a:t>
            </a:r>
            <a:endParaRPr sz="1000">
              <a:solidFill>
                <a:schemeClr val="dk2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●"/>
            </a:pPr>
            <a:r>
              <a:rPr lang="es" sz="1000">
                <a:solidFill>
                  <a:schemeClr val="dk2"/>
                </a:solidFill>
              </a:rPr>
              <a:t>Vista: Se encarga de la presentación, generando las interfaces de usuario en el navegador mediante HTML y templates.</a:t>
            </a:r>
            <a:endParaRPr sz="1000">
              <a:solidFill>
                <a:schemeClr val="dk2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●"/>
            </a:pPr>
            <a:r>
              <a:rPr lang="es" sz="1000">
                <a:solidFill>
                  <a:schemeClr val="dk2"/>
                </a:solidFill>
              </a:rPr>
              <a:t>Controlador: Maneja las peticiones del usuario, procesa la lógica y selecciona la vista adecuada. En el caso de la API, los controladores son los endpoints REST que gestionan las solicitudes y respuestas entre la aplicación web, la app de escritorio y el backend.</a:t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s" sz="1000">
                <a:solidFill>
                  <a:schemeClr val="dk2"/>
                </a:solidFill>
              </a:rPr>
              <a:t>Este patrón facilita el mantenimiento y escalabilidad del proyecto, permitiendo un desarrollo más modular y organizado.</a:t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pic>
        <p:nvPicPr>
          <p:cNvPr id="129" name="Google Shape;12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87260" y="1184575"/>
            <a:ext cx="3812115" cy="3800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1"/>
          <p:cNvSpPr txBox="1"/>
          <p:nvPr>
            <p:ph type="title"/>
          </p:nvPr>
        </p:nvSpPr>
        <p:spPr>
          <a:xfrm>
            <a:off x="342875" y="78750"/>
            <a:ext cx="8520600" cy="6234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</a:rPr>
              <a:t>ARQUITECTURA DEL SISTEMA (TO-BE)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135" name="Google Shape;13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53800" y="1081888"/>
            <a:ext cx="6698726" cy="2979726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21"/>
          <p:cNvSpPr txBox="1"/>
          <p:nvPr/>
        </p:nvSpPr>
        <p:spPr>
          <a:xfrm>
            <a:off x="116900" y="4473275"/>
            <a:ext cx="3990000" cy="4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 u="sng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Proceso de negocio</a:t>
            </a:r>
            <a:endParaRPr b="1" sz="180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2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</a:rPr>
              <a:t>TECNOLOGÍAS</a:t>
            </a:r>
            <a:r>
              <a:rPr lang="es">
                <a:solidFill>
                  <a:schemeClr val="lt1"/>
                </a:solidFill>
              </a:rPr>
              <a:t> DEL DESARROLLO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42" name="Google Shape;142;p22"/>
          <p:cNvSpPr txBox="1"/>
          <p:nvPr>
            <p:ph type="title"/>
          </p:nvPr>
        </p:nvSpPr>
        <p:spPr>
          <a:xfrm>
            <a:off x="2263650" y="1359425"/>
            <a:ext cx="4616700" cy="417900"/>
          </a:xfrm>
          <a:prstGeom prst="rect">
            <a:avLst/>
          </a:prstGeom>
          <a:solidFill>
            <a:srgbClr val="5E81C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8575" lIns="148575" spcFirstLastPara="1" rIns="148575" wrap="square" tIns="14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609"/>
              <a:buNone/>
            </a:pPr>
            <a:r>
              <a:rPr lang="es" sz="2112">
                <a:solidFill>
                  <a:schemeClr val="lt1"/>
                </a:solidFill>
              </a:rPr>
              <a:t>Front-end</a:t>
            </a:r>
            <a:endParaRPr sz="1625">
              <a:solidFill>
                <a:schemeClr val="lt1"/>
              </a:solidFill>
            </a:endParaRPr>
          </a:p>
        </p:txBody>
      </p:sp>
      <p:sp>
        <p:nvSpPr>
          <p:cNvPr id="143" name="Google Shape;143;p22"/>
          <p:cNvSpPr txBox="1"/>
          <p:nvPr>
            <p:ph type="title"/>
          </p:nvPr>
        </p:nvSpPr>
        <p:spPr>
          <a:xfrm>
            <a:off x="2263650" y="2752335"/>
            <a:ext cx="4616700" cy="417900"/>
          </a:xfrm>
          <a:prstGeom prst="rect">
            <a:avLst/>
          </a:prstGeom>
          <a:solidFill>
            <a:srgbClr val="5E81C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8575" lIns="148575" spcFirstLastPara="1" rIns="148575" wrap="square" tIns="14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609"/>
              <a:buNone/>
            </a:pPr>
            <a:r>
              <a:rPr lang="es" sz="2112">
                <a:solidFill>
                  <a:schemeClr val="lt1"/>
                </a:solidFill>
              </a:rPr>
              <a:t>Back-end</a:t>
            </a:r>
            <a:endParaRPr sz="1625">
              <a:solidFill>
                <a:schemeClr val="lt1"/>
              </a:solidFill>
            </a:endParaRPr>
          </a:p>
        </p:txBody>
      </p:sp>
      <p:sp>
        <p:nvSpPr>
          <p:cNvPr id="144" name="Google Shape;144;p22"/>
          <p:cNvSpPr txBox="1"/>
          <p:nvPr/>
        </p:nvSpPr>
        <p:spPr>
          <a:xfrm>
            <a:off x="2263650" y="1777213"/>
            <a:ext cx="4616700" cy="7740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48575" lIns="148575" spcFirstLastPara="1" rIns="148575" wrap="square" tIns="148575">
            <a:noAutofit/>
          </a:bodyPr>
          <a:lstStyle/>
          <a:p>
            <a:pPr indent="-474662" lvl="0" marL="74295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5"/>
              <a:buFont typeface="Source Sans Pro"/>
              <a:buChar char="●"/>
            </a:pPr>
            <a:r>
              <a:rPr lang="es" sz="1625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HTML5, CSS, JavaScript</a:t>
            </a:r>
            <a:endParaRPr sz="1625">
              <a:solidFill>
                <a:schemeClr val="dk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474662" lvl="0" marL="74295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5"/>
              <a:buFont typeface="Source Sans Pro"/>
              <a:buChar char="●"/>
            </a:pPr>
            <a:r>
              <a:rPr lang="es" sz="1625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Boostrap 5</a:t>
            </a:r>
            <a:endParaRPr sz="1625">
              <a:solidFill>
                <a:schemeClr val="dk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45" name="Google Shape;145;p22"/>
          <p:cNvSpPr txBox="1"/>
          <p:nvPr/>
        </p:nvSpPr>
        <p:spPr>
          <a:xfrm>
            <a:off x="2263650" y="3170125"/>
            <a:ext cx="4616700" cy="14667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48575" lIns="148575" spcFirstLastPara="1" rIns="148575" wrap="square" tIns="148575">
            <a:noAutofit/>
          </a:bodyPr>
          <a:lstStyle/>
          <a:p>
            <a:pPr indent="-474662" lvl="0" marL="74295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5"/>
              <a:buFont typeface="Source Sans Pro"/>
              <a:buChar char="●"/>
            </a:pPr>
            <a:r>
              <a:rPr lang="es" sz="1625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Django 4.1</a:t>
            </a:r>
            <a:r>
              <a:rPr lang="es" sz="1625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, JavaFX (Para la app escritorio)</a:t>
            </a:r>
            <a:endParaRPr sz="1625">
              <a:solidFill>
                <a:schemeClr val="dk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474662" lvl="0" marL="74295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5"/>
              <a:buFont typeface="Source Sans Pro"/>
              <a:buChar char="●"/>
            </a:pPr>
            <a:r>
              <a:rPr lang="es" sz="1625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MySQL (MariaDB 10.4.31)</a:t>
            </a:r>
            <a:endParaRPr sz="1625">
              <a:solidFill>
                <a:schemeClr val="dk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474662" lvl="0" marL="74295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5"/>
              <a:buFont typeface="Source Sans Pro"/>
              <a:buChar char="●"/>
            </a:pPr>
            <a:r>
              <a:rPr lang="es" sz="1625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API RESTful (Leaflet, Hunter.io, Paypal, Miindicador) </a:t>
            </a:r>
            <a:endParaRPr sz="1625">
              <a:solidFill>
                <a:schemeClr val="dk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3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</a:rPr>
              <a:t>CRONOGRAMA DE ACTIVIDADES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151" name="Google Shape;151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3250" y="1363750"/>
            <a:ext cx="4383201" cy="2922150"/>
          </a:xfrm>
          <a:prstGeom prst="rect">
            <a:avLst/>
          </a:prstGeom>
          <a:noFill/>
          <a:ln>
            <a:noFill/>
          </a:ln>
          <a:effectLst>
            <a:outerShdw blurRad="314325" rotWithShape="0" algn="bl" dir="5400000" dist="19050">
              <a:schemeClr val="dk1"/>
            </a:outerShdw>
          </a:effectLst>
        </p:spPr>
      </p:pic>
      <p:sp>
        <p:nvSpPr>
          <p:cNvPr id="152" name="Google Shape;152;p23"/>
          <p:cNvSpPr txBox="1"/>
          <p:nvPr/>
        </p:nvSpPr>
        <p:spPr>
          <a:xfrm>
            <a:off x="5221425" y="2361300"/>
            <a:ext cx="3319800" cy="42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200" u="sng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Carta Gantt</a:t>
            </a:r>
            <a:endParaRPr b="1" sz="220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4"/>
          <p:cNvSpPr txBox="1"/>
          <p:nvPr>
            <p:ph type="title"/>
          </p:nvPr>
        </p:nvSpPr>
        <p:spPr>
          <a:xfrm>
            <a:off x="233775" y="2260050"/>
            <a:ext cx="8520600" cy="6234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</a:rPr>
              <a:t>MUESTRA DEL SISTEMA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lum">
  <a:themeElements>
    <a:clrScheme name="Plum">
      <a:dk1>
        <a:srgbClr val="611BB8"/>
      </a:dk1>
      <a:lt1>
        <a:srgbClr val="FFFFFF"/>
      </a:lt1>
      <a:dk2>
        <a:srgbClr val="000000"/>
      </a:dk2>
      <a:lt2>
        <a:srgbClr val="7F7F7F"/>
      </a:lt2>
      <a:accent1>
        <a:srgbClr val="333333"/>
      </a:accent1>
      <a:accent2>
        <a:srgbClr val="5E2B97"/>
      </a:accent2>
      <a:accent3>
        <a:srgbClr val="7E57C2"/>
      </a:accent3>
      <a:accent4>
        <a:srgbClr val="C77025"/>
      </a:accent4>
      <a:accent5>
        <a:srgbClr val="009688"/>
      </a:accent5>
      <a:accent6>
        <a:srgbClr val="FFD600"/>
      </a:accent6>
      <a:hlink>
        <a:srgbClr val="009688"/>
      </a:hlink>
      <a:folHlink>
        <a:srgbClr val="00968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